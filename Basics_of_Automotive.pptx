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82" r:id="rId2"/>
    <p:sldId id="258" r:id="rId3"/>
    <p:sldId id="259" r:id="rId4"/>
    <p:sldId id="260" r:id="rId5"/>
    <p:sldId id="261" r:id="rId6"/>
    <p:sldId id="283" r:id="rId7"/>
    <p:sldId id="262" r:id="rId8"/>
    <p:sldId id="275" r:id="rId9"/>
    <p:sldId id="28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848F1F-CC30-2B6A-47AE-FC5D9B63316C}" v="77" dt="2026-05-24T11:30:59.902"/>
    <p1510:client id="{A33AE10D-31B7-400E-9F77-15E7B9AF113A}" v="4" dt="2026-05-25T09:50:13"/>
    <p1510:client id="{AE9F1034-0DFF-47C0-0227-045ACC151FE2}" v="180" dt="2026-05-25T03:46:50.136"/>
    <p1510:client id="{BE79AEB5-387B-E49F-F590-6A58E4DB5EF0}" v="87" dt="2026-05-25T09:48:07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819" y="889820"/>
            <a:ext cx="7492181" cy="3598606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820" y="4488426"/>
            <a:ext cx="5243832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667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8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5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38" y="1709739"/>
            <a:ext cx="7974050" cy="285273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8" y="4589464"/>
            <a:ext cx="7974050" cy="150018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0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922096"/>
            <a:ext cx="8018449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6538" y="2128684"/>
            <a:ext cx="3978313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128684"/>
            <a:ext cx="3914775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0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16" y="929148"/>
            <a:ext cx="7980004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8" y="1681164"/>
            <a:ext cx="3961644" cy="657225"/>
          </a:xfrm>
        </p:spPr>
        <p:txBody>
          <a:bodyPr anchor="b">
            <a:normAutofit/>
          </a:bodyPr>
          <a:lstStyle>
            <a:lvl1pPr marL="0" indent="0">
              <a:buNone/>
              <a:defRPr sz="2133" b="1">
                <a:latin typeface="+mj-lt"/>
              </a:defRPr>
            </a:lvl1pPr>
            <a:lvl2pPr marL="609585" indent="0">
              <a:buNone/>
              <a:defRPr sz="2133" b="1"/>
            </a:lvl2pPr>
            <a:lvl3pPr marL="1219170" indent="0">
              <a:buNone/>
              <a:defRPr sz="2133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6538" y="2505076"/>
            <a:ext cx="3961644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4"/>
            <a:ext cx="3887391" cy="657225"/>
          </a:xfrm>
        </p:spPr>
        <p:txBody>
          <a:bodyPr anchor="b">
            <a:normAutofit/>
          </a:bodyPr>
          <a:lstStyle>
            <a:lvl1pPr marL="0" indent="0">
              <a:buNone/>
              <a:defRPr sz="2133" b="1">
                <a:latin typeface="+mj-lt"/>
              </a:defRPr>
            </a:lvl1pPr>
            <a:lvl2pPr marL="609585" indent="0">
              <a:buNone/>
              <a:defRPr sz="2133" b="1"/>
            </a:lvl2pPr>
            <a:lvl3pPr marL="1219170" indent="0">
              <a:buNone/>
              <a:defRPr sz="2133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6"/>
            <a:ext cx="3887391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7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2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13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20" y="781665"/>
            <a:ext cx="3070199" cy="1223452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6194" y="2315498"/>
            <a:ext cx="3070199" cy="355349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53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07" y="1066801"/>
            <a:ext cx="3077573" cy="1317523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1066800"/>
            <a:ext cx="4629150" cy="479425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2507" y="2552700"/>
            <a:ext cx="3077573" cy="331628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2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8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931742" y="997974"/>
            <a:ext cx="1761782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997973"/>
            <a:ext cx="630309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49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922096"/>
            <a:ext cx="8018449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477" y="2293126"/>
            <a:ext cx="8018449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77086" y="6356351"/>
            <a:ext cx="1944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538" y="6356351"/>
            <a:ext cx="3404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89259" y="6356351"/>
            <a:ext cx="504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600075" y="723900"/>
            <a:ext cx="794385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600075" y="6142781"/>
            <a:ext cx="79438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86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672" userDrawn="1">
          <p15:clr>
            <a:srgbClr val="F26B43"/>
          </p15:clr>
        </p15:guide>
        <p15:guide id="4" orient="horz" pos="912" userDrawn="1">
          <p15:clr>
            <a:srgbClr val="F26B43"/>
          </p15:clr>
        </p15:guide>
        <p15:guide id="5" pos="5382" userDrawn="1">
          <p15:clr>
            <a:srgbClr val="F26B43"/>
          </p15:clr>
        </p15:guide>
        <p15:guide id="6" pos="378" userDrawn="1">
          <p15:clr>
            <a:srgbClr val="F26B43"/>
          </p15:clr>
        </p15:guide>
        <p15:guide id="7" orient="horz" pos="3864" userDrawn="1">
          <p15:clr>
            <a:srgbClr val="F26B43"/>
          </p15:clr>
        </p15:guide>
        <p15:guide id="8" orient="horz" pos="4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9CAA2-F760-E96F-5B80-78A2F732C6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Basics of Automotive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54BF1-20F8-264C-E05D-5C0C42B5F6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2650"/>
              <a:t>Monal Sutar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3B993-6B1C-071B-176B-8C4ECE6E8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EC831-6615-BF8B-497E-3A525786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0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Automotive Industry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77" y="1709719"/>
            <a:ext cx="8066074" cy="446952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Global industry with many companies involved in vehicle design, manufacturing, and services</a:t>
            </a:r>
            <a:endParaRPr/>
          </a:p>
          <a:p>
            <a:r>
              <a:rPr lang="en-US"/>
              <a:t>OEMs (Original Equipment Manufacturers)</a:t>
            </a:r>
            <a:br>
              <a:rPr lang="en-US"/>
            </a:br>
            <a:r>
              <a:rPr lang="en-US"/>
              <a:t> → Companies that manufacture vehicles (cars, trucks, EVs)</a:t>
            </a:r>
            <a:endParaRPr/>
          </a:p>
          <a:p>
            <a:r>
              <a:rPr lang="en-US"/>
              <a:t>Suppliers</a:t>
            </a:r>
            <a:br>
              <a:rPr lang="en-US"/>
            </a:br>
            <a:r>
              <a:rPr lang="en-US"/>
              <a:t> → Provide components like engines, sensors, ECUs, electronics</a:t>
            </a:r>
          </a:p>
          <a:p>
            <a:pPr marL="0" indent="0">
              <a:buNone/>
            </a:pPr>
            <a:r>
              <a:rPr lang="en-US" b="1"/>
              <a:t>Industry Growth &amp; Changes</a:t>
            </a:r>
          </a:p>
          <a:p>
            <a:r>
              <a:rPr lang="en-US"/>
              <a:t>Shift from mechanical to electronic to software-based vehicles</a:t>
            </a:r>
            <a:endParaRPr lang="en-GB"/>
          </a:p>
          <a:p>
            <a:r>
              <a:rPr lang="en-US"/>
              <a:t>Increasing use of ECUs and embedded systems</a:t>
            </a:r>
            <a:endParaRPr lang="en-GB"/>
          </a:p>
          <a:p>
            <a:pPr marL="0" indent="0">
              <a:buNone/>
            </a:pPr>
            <a:r>
              <a:rPr lang="en-US"/>
              <a:t>Growth of: </a:t>
            </a:r>
            <a:endParaRPr lang="en-GB"/>
          </a:p>
          <a:p>
            <a:pPr marL="228600" lvl="1">
              <a:spcBef>
                <a:spcPts val="1000"/>
              </a:spcBef>
            </a:pPr>
            <a:r>
              <a:rPr lang="en-US" sz="2000"/>
              <a:t>Electric Vehicles (EVs)</a:t>
            </a:r>
            <a:endParaRPr lang="en-GB" sz="2000"/>
          </a:p>
          <a:p>
            <a:pPr marL="228600" lvl="1">
              <a:spcBef>
                <a:spcPts val="1000"/>
              </a:spcBef>
            </a:pPr>
            <a:r>
              <a:rPr lang="en-US" sz="2000"/>
              <a:t>ADAS (driver assistance systems)</a:t>
            </a:r>
            <a:endParaRPr lang="en-GB" sz="2000"/>
          </a:p>
          <a:p>
            <a:pPr marL="228600" lvl="1">
              <a:spcBef>
                <a:spcPts val="1000"/>
              </a:spcBef>
            </a:pPr>
            <a:r>
              <a:rPr lang="en-US" sz="2000"/>
              <a:t>Connected and smart cars</a:t>
            </a:r>
            <a:endParaRPr lang="en-GB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477" y="922096"/>
            <a:ext cx="8018449" cy="1127930"/>
          </a:xfrm>
        </p:spPr>
        <p:txBody>
          <a:bodyPr anchor="t">
            <a:normAutofit/>
          </a:bodyPr>
          <a:lstStyle/>
          <a:p>
            <a:r>
              <a:t>Key Systems in a Vehicle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6538" y="2128684"/>
            <a:ext cx="3978313" cy="3844414"/>
          </a:xfrm>
        </p:spPr>
        <p:txBody>
          <a:bodyPr>
            <a:normAutofit/>
          </a:bodyPr>
          <a:lstStyle/>
          <a:p>
            <a:r>
              <a:t>Engine – power generation</a:t>
            </a:r>
          </a:p>
          <a:p>
            <a:r>
              <a:t>Brakes – safety</a:t>
            </a:r>
          </a:p>
          <a:p>
            <a:r>
              <a:t>Transmission – speed control</a:t>
            </a:r>
          </a:p>
          <a:p>
            <a:r>
              <a:t>Electrical – supports all systems</a:t>
            </a:r>
          </a:p>
          <a:p>
            <a:r>
              <a:t>Infotainment – user experience</a:t>
            </a:r>
          </a:p>
        </p:txBody>
      </p:sp>
      <p:pic>
        <p:nvPicPr>
          <p:cNvPr id="104" name="Picture 103" descr="A diagram of a car&#10;&#10;AI-generated content may be incorrect.">
            <a:extLst>
              <a:ext uri="{FF2B5EF4-FFF2-40B4-BE49-F238E27FC236}">
                <a16:creationId xmlns:a16="http://schemas.microsoft.com/office/drawing/2014/main" id="{12679D27-69EB-D565-E598-4AD9AFF0B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3" t="1381" r="1656" b="1972"/>
          <a:stretch>
            <a:fillRect/>
          </a:stretch>
        </p:blipFill>
        <p:spPr>
          <a:xfrm>
            <a:off x="4283869" y="2946904"/>
            <a:ext cx="4545806" cy="3029506"/>
          </a:xfrm>
          <a:prstGeom prst="rect">
            <a:avLst/>
          </a:prstGeom>
          <a:noFill/>
        </p:spPr>
      </p:pic>
      <p:sp>
        <p:nvSpPr>
          <p:cNvPr id="115" name="Footer Placeholder 7">
            <a:extLst>
              <a:ext uri="{FF2B5EF4-FFF2-40B4-BE49-F238E27FC236}">
                <a16:creationId xmlns:a16="http://schemas.microsoft.com/office/drawing/2014/main" id="{1A31732A-6A00-577D-7105-3712B7ED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538" y="6356351"/>
            <a:ext cx="340479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117" name="Slide Number Placeholder 8">
            <a:extLst>
              <a:ext uri="{FF2B5EF4-FFF2-40B4-BE49-F238E27FC236}">
                <a16:creationId xmlns:a16="http://schemas.microsoft.com/office/drawing/2014/main" id="{DD14DF24-B7D3-924D-E001-8489C6A1C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9259" y="6356351"/>
            <a:ext cx="50426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sz="19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ECU?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Electronic Control Unit</a:t>
            </a:r>
          </a:p>
          <a:p>
            <a:r>
              <a:t>Brain of the vehicle</a:t>
            </a:r>
          </a:p>
          <a:p>
            <a:r>
              <a:t>Controls multiple functions</a:t>
            </a:r>
          </a:p>
          <a:p>
            <a:r>
              <a:t>Makes vehicle smart &amp; automatic</a:t>
            </a:r>
          </a:p>
        </p:txBody>
      </p:sp>
      <p:pic>
        <p:nvPicPr>
          <p:cNvPr id="5" name="Picture 4" descr="Electronic Control Unit (ECU)">
            <a:extLst>
              <a:ext uri="{FF2B5EF4-FFF2-40B4-BE49-F238E27FC236}">
                <a16:creationId xmlns:a16="http://schemas.microsoft.com/office/drawing/2014/main" id="{AE5FEB30-A973-FF54-1D55-CEFB2BED8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769" y="1606542"/>
            <a:ext cx="4195878" cy="27327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Parts of ECU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77" y="1900220"/>
            <a:ext cx="8018449" cy="3636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t>Microcontroller – decision making</a:t>
            </a:r>
          </a:p>
          <a:p>
            <a:r>
              <a:rPr lang="en-GB"/>
              <a:t>Memory - stores data</a:t>
            </a:r>
          </a:p>
          <a:p>
            <a:r>
              <a:rPr lang="en-GB"/>
              <a:t>CAN/LIN/Ethernet Transceivers - communication </a:t>
            </a:r>
          </a:p>
          <a:p>
            <a:r>
              <a:t>Sensors – take input</a:t>
            </a:r>
          </a:p>
          <a:p>
            <a:r>
              <a:t>Actuators – perform action</a:t>
            </a:r>
          </a:p>
          <a:p>
            <a:r>
              <a:rPr lang="en-GB"/>
              <a:t>Clock/Timers - Timing operations </a:t>
            </a:r>
            <a:endParaRPr/>
          </a:p>
          <a:p>
            <a:pPr marL="0" indent="0">
              <a:buNone/>
            </a:pPr>
            <a:endParaRPr lang="en-GB"/>
          </a:p>
        </p:txBody>
      </p:sp>
      <p:pic>
        <p:nvPicPr>
          <p:cNvPr id="4" name="Picture 3" descr="Electronic Control Unit">
            <a:extLst>
              <a:ext uri="{FF2B5EF4-FFF2-40B4-BE49-F238E27FC236}">
                <a16:creationId xmlns:a16="http://schemas.microsoft.com/office/drawing/2014/main" id="{18B5B4EC-F7F6-27E9-D2AE-124A10499D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57" b="-385"/>
          <a:stretch>
            <a:fillRect/>
          </a:stretch>
        </p:blipFill>
        <p:spPr>
          <a:xfrm>
            <a:off x="4900612" y="3390900"/>
            <a:ext cx="4068939" cy="26473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142A5-6423-9B50-2F41-AC8371D6D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5283B-F6BC-DC94-79CF-5AEB25D7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6</a:t>
            </a:fld>
            <a:endParaRPr lang="en-US"/>
          </a:p>
        </p:txBody>
      </p:sp>
      <p:pic>
        <p:nvPicPr>
          <p:cNvPr id="6" name="Picture 5" descr="Introduction to Electric Control Unit (ECU): Overview, Types,Components ...">
            <a:extLst>
              <a:ext uri="{FF2B5EF4-FFF2-40B4-BE49-F238E27FC236}">
                <a16:creationId xmlns:a16="http://schemas.microsoft.com/office/drawing/2014/main" id="{A98D317F-5E76-0EB9-4326-DC04591CF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285875"/>
            <a:ext cx="74485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049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ECUs Communicate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77" y="2305032"/>
            <a:ext cx="8018449" cy="1885870"/>
          </a:xfrm>
        </p:spPr>
        <p:txBody>
          <a:bodyPr/>
          <a:lstStyle/>
          <a:p>
            <a:r>
              <a:t>Multiple ECUs in one vehicle</a:t>
            </a:r>
          </a:p>
          <a:p>
            <a:r>
              <a:t>They share data</a:t>
            </a:r>
          </a:p>
          <a:p>
            <a:r>
              <a:t>Use communication networks</a:t>
            </a:r>
          </a:p>
          <a:p>
            <a:r>
              <a:t>Example: CAN, LIN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C672AC-A2EE-F69D-F380-EF3F99CC12FA}"/>
              </a:ext>
            </a:extLst>
          </p:cNvPr>
          <p:cNvSpPr/>
          <p:nvPr/>
        </p:nvSpPr>
        <p:spPr>
          <a:xfrm>
            <a:off x="769437" y="5609541"/>
            <a:ext cx="7779392" cy="11710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all-out: Down Arrow 5">
            <a:extLst>
              <a:ext uri="{FF2B5EF4-FFF2-40B4-BE49-F238E27FC236}">
                <a16:creationId xmlns:a16="http://schemas.microsoft.com/office/drawing/2014/main" id="{B7B50499-D078-9A48-921D-085327CE4579}"/>
              </a:ext>
            </a:extLst>
          </p:cNvPr>
          <p:cNvSpPr/>
          <p:nvPr/>
        </p:nvSpPr>
        <p:spPr>
          <a:xfrm>
            <a:off x="1147923" y="4825179"/>
            <a:ext cx="860942" cy="786317"/>
          </a:xfrm>
          <a:prstGeom prst="downArrowCallou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ECU 1</a:t>
            </a:r>
            <a:endParaRPr lang="en-US"/>
          </a:p>
        </p:txBody>
      </p:sp>
      <p:sp>
        <p:nvSpPr>
          <p:cNvPr id="7" name="Call-out: Down Arrow 6">
            <a:extLst>
              <a:ext uri="{FF2B5EF4-FFF2-40B4-BE49-F238E27FC236}">
                <a16:creationId xmlns:a16="http://schemas.microsoft.com/office/drawing/2014/main" id="{368B43A9-5FBF-2A2C-C536-DCBF3D716956}"/>
              </a:ext>
            </a:extLst>
          </p:cNvPr>
          <p:cNvSpPr/>
          <p:nvPr/>
        </p:nvSpPr>
        <p:spPr>
          <a:xfrm>
            <a:off x="3041016" y="4825179"/>
            <a:ext cx="860942" cy="786317"/>
          </a:xfrm>
          <a:prstGeom prst="downArrowCallou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/>
              <a:t>ECU 2</a:t>
            </a:r>
            <a:endParaRPr lang="en-US"/>
          </a:p>
        </p:txBody>
      </p:sp>
      <p:sp>
        <p:nvSpPr>
          <p:cNvPr id="8" name="Call-out: Down Arrow 7">
            <a:extLst>
              <a:ext uri="{FF2B5EF4-FFF2-40B4-BE49-F238E27FC236}">
                <a16:creationId xmlns:a16="http://schemas.microsoft.com/office/drawing/2014/main" id="{EE378AEA-DB09-AC54-C05E-451BEC97F017}"/>
              </a:ext>
            </a:extLst>
          </p:cNvPr>
          <p:cNvSpPr/>
          <p:nvPr/>
        </p:nvSpPr>
        <p:spPr>
          <a:xfrm>
            <a:off x="5231766" y="4825179"/>
            <a:ext cx="860942" cy="786317"/>
          </a:xfrm>
          <a:prstGeom prst="downArrowCallou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/>
              <a:t>ECU 3</a:t>
            </a:r>
            <a:endParaRPr lang="en-US"/>
          </a:p>
        </p:txBody>
      </p:sp>
      <p:sp>
        <p:nvSpPr>
          <p:cNvPr id="9" name="Call-out: Down Arrow 8">
            <a:extLst>
              <a:ext uri="{FF2B5EF4-FFF2-40B4-BE49-F238E27FC236}">
                <a16:creationId xmlns:a16="http://schemas.microsoft.com/office/drawing/2014/main" id="{FCF11149-C543-C8E8-1885-E2654F39676E}"/>
              </a:ext>
            </a:extLst>
          </p:cNvPr>
          <p:cNvSpPr/>
          <p:nvPr/>
        </p:nvSpPr>
        <p:spPr>
          <a:xfrm>
            <a:off x="7124860" y="4825179"/>
            <a:ext cx="860942" cy="786317"/>
          </a:xfrm>
          <a:prstGeom prst="downArrowCallou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/>
              <a:t>ECU 4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B3BEDB-3D1E-052A-4B08-B5432CA35148}"/>
              </a:ext>
            </a:extLst>
          </p:cNvPr>
          <p:cNvSpPr txBox="1"/>
          <p:nvPr/>
        </p:nvSpPr>
        <p:spPr>
          <a:xfrm>
            <a:off x="3917169" y="5745653"/>
            <a:ext cx="13113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CAN Bus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484DC-31FE-13E9-2CE3-D233F5968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67D16-BFC2-4788-A8D6-4B3BC114365C}" type="datetime1"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4B7E1-CCE3-7E0C-085E-EC35B21B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39984-5E46-934B-015B-624934A1E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8</a:t>
            </a:fld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68B173E-FF15-6269-36AE-1D2809EA743A}"/>
              </a:ext>
            </a:extLst>
          </p:cNvPr>
          <p:cNvSpPr>
            <a:spLocks noGrp="1"/>
          </p:cNvSpPr>
          <p:nvPr/>
        </p:nvSpPr>
        <p:spPr>
          <a:xfrm>
            <a:off x="313100" y="979107"/>
            <a:ext cx="9029770" cy="737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cap="all" spc="30"/>
              <a:t>CAN BUS Network Diagram and ECU interaction</a:t>
            </a:r>
          </a:p>
        </p:txBody>
      </p:sp>
      <p:pic>
        <p:nvPicPr>
          <p:cNvPr id="2" name="Picture 1" descr="A diagram of a network&#10;&#10;AI-generated content may be incorrect.">
            <a:extLst>
              <a:ext uri="{FF2B5EF4-FFF2-40B4-BE49-F238E27FC236}">
                <a16:creationId xmlns:a16="http://schemas.microsoft.com/office/drawing/2014/main" id="{2E6D4ABE-057C-9EA5-227C-98D101B50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9" y="1714500"/>
            <a:ext cx="8843962" cy="497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8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0F1E-9BED-F44D-57C6-7AFAC8FF1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Thank 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07A1BE-CAD5-A65B-84C1-A71A2631A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574BCB-DBCB-972E-D836-6B3AC89F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268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PresentationFormat>On-screen Show (4:3)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Calisto MT</vt:lpstr>
      <vt:lpstr>Univers Condensed</vt:lpstr>
      <vt:lpstr>ChronicleVTI</vt:lpstr>
      <vt:lpstr>Basics of Automotive</vt:lpstr>
      <vt:lpstr>Automotive Industry Overview</vt:lpstr>
      <vt:lpstr>Key Systems in a Vehicle</vt:lpstr>
      <vt:lpstr>What is ECU?</vt:lpstr>
      <vt:lpstr>Main Parts of ECU</vt:lpstr>
      <vt:lpstr>PowerPoint Presentation</vt:lpstr>
      <vt:lpstr>How ECUs Communicate</vt:lpstr>
      <vt:lpstr>PowerPoint Presentation</vt:lpstr>
      <vt:lpstr>Thank 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Sutar, Monal Gajanan (Cognizant)</dc:creator>
  <cp:keywords/>
  <dc:description>generated using python-pptx</dc:description>
  <cp:lastModifiedBy>Sutar, Monal Gajanan (Cognizant)</cp:lastModifiedBy>
  <cp:revision>2</cp:revision>
  <dcterms:created xsi:type="dcterms:W3CDTF">2026-05-23T04:31:28Z</dcterms:created>
  <dcterms:modified xsi:type="dcterms:W3CDTF">2026-05-25T10:11:59Z</dcterms:modified>
  <cp:category/>
</cp:coreProperties>
</file>